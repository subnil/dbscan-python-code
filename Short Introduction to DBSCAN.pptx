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56" r:id="rId5"/>
    <p:sldId id="265" r:id="rId6"/>
    <p:sldId id="266" r:id="rId7"/>
    <p:sldId id="268" r:id="rId8"/>
    <p:sldId id="267" r:id="rId9"/>
    <p:sldId id="269" r:id="rId1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8"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706" autoAdjust="0"/>
  </p:normalViewPr>
  <p:slideViewPr>
    <p:cSldViewPr showGuides="1">
      <p:cViewPr varScale="1">
        <p:scale>
          <a:sx n="84" d="100"/>
          <a:sy n="84" d="100"/>
        </p:scale>
        <p:origin x="180" y="78"/>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060F7B-9920-4F24-BE71-F0E4E3B7B934}" type="doc">
      <dgm:prSet loTypeId="urn:microsoft.com/office/officeart/2005/8/layout/radial6" loCatId="cycle" qsTypeId="urn:microsoft.com/office/officeart/2005/8/quickstyle/simple1" qsCatId="simple" csTypeId="urn:microsoft.com/office/officeart/2005/8/colors/accent1_1" csCatId="accent1" phldr="1"/>
      <dgm:spPr/>
      <dgm:t>
        <a:bodyPr/>
        <a:lstStyle/>
        <a:p>
          <a:endParaRPr lang="en-US"/>
        </a:p>
      </dgm:t>
    </dgm:pt>
    <dgm:pt modelId="{B0C37B97-914B-49F2-84E5-94B39EF2352F}" type="pres">
      <dgm:prSet presAssocID="{B8060F7B-9920-4F24-BE71-F0E4E3B7B934}" presName="Name0" presStyleCnt="0">
        <dgm:presLayoutVars>
          <dgm:chMax val="1"/>
          <dgm:dir/>
          <dgm:animLvl val="ctr"/>
          <dgm:resizeHandles val="exact"/>
        </dgm:presLayoutVars>
      </dgm:prSet>
      <dgm:spPr/>
    </dgm:pt>
  </dgm:ptLst>
  <dgm:cxnLst>
    <dgm:cxn modelId="{66D10D89-90C6-4D3D-B022-615F34E0F6A8}" type="presOf" srcId="{B8060F7B-9920-4F24-BE71-F0E4E3B7B934}" destId="{B0C37B97-914B-49F2-84E5-94B39EF2352F}" srcOrd="0"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12/12/2017</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12/12/2017</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533400"/>
            <a:ext cx="5029200" cy="251460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065212" y="3403600"/>
            <a:ext cx="5029201" cy="1397000"/>
          </a:xfrm>
        </p:spPr>
        <p:txBody>
          <a:bodyPr>
            <a:normAutofit/>
          </a:bodyPr>
          <a:lstStyle>
            <a:lvl1pPr marL="0" indent="0" algn="l">
              <a:spcBef>
                <a:spcPts val="600"/>
              </a:spcBef>
              <a:buNone/>
              <a:defRPr sz="24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12/12/2017</a:t>
            </a:fld>
            <a:endParaRPr/>
          </a:p>
        </p:txBody>
      </p:sp>
      <p:sp>
        <p:nvSpPr>
          <p:cNvPr id="6" name="Slide Number Placeholder 5"/>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66475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12/12/2017</a:t>
            </a:fld>
            <a:endParaRPr/>
          </a:p>
        </p:txBody>
      </p:sp>
      <p:sp>
        <p:nvSpPr>
          <p:cNvPr id="6" name="Slide Number Placeholder 5"/>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242915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4" y="533400"/>
            <a:ext cx="8686800" cy="2286000"/>
          </a:xfrm>
        </p:spPr>
        <p:txBody>
          <a:bodyPr anchor="b">
            <a:normAutofit/>
          </a:bodyPr>
          <a:lstStyle>
            <a:lvl1pPr algn="l">
              <a:defRPr sz="5400" b="1" cap="none" baseline="0"/>
            </a:lvl1pPr>
          </a:lstStyle>
          <a:p>
            <a:r>
              <a:rPr lang="en-US"/>
              <a:t>Click to edit Master title style</a:t>
            </a:r>
            <a:endParaRPr/>
          </a:p>
        </p:txBody>
      </p:sp>
      <p:sp>
        <p:nvSpPr>
          <p:cNvPr id="3" name="Text Placeholder 2"/>
          <p:cNvSpPr>
            <a:spLocks noGrp="1"/>
          </p:cNvSpPr>
          <p:nvPr>
            <p:ph type="body" idx="1"/>
          </p:nvPr>
        </p:nvSpPr>
        <p:spPr>
          <a:xfrm>
            <a:off x="1065214" y="3124200"/>
            <a:ext cx="8686800" cy="1371600"/>
          </a:xfrm>
        </p:spPr>
        <p:txBody>
          <a:bodyPr anchor="t">
            <a:normAutofit/>
          </a:bodyPr>
          <a:lstStyle>
            <a:lvl1pPr marL="0" indent="0">
              <a:spcBef>
                <a:spcPts val="600"/>
              </a:spcBef>
              <a:buNone/>
              <a:defRPr sz="24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12/12/2017</a:t>
            </a:fld>
            <a:endParaRPr/>
          </a:p>
        </p:txBody>
      </p:sp>
      <p:sp>
        <p:nvSpPr>
          <p:cNvPr id="6" name="Slide Number Placeholder 5"/>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370133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5212" y="1828800"/>
            <a:ext cx="4251960"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5464598" y="1828800"/>
            <a:ext cx="4251960"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3E0FA9E5-6744-4841-888F-9E7CC0C2B7EC}" type="datetimeFigureOut">
              <a:rPr lang="en-US"/>
              <a:t>12/12/2017</a:t>
            </a:fld>
            <a:endParaRPr/>
          </a:p>
        </p:txBody>
      </p:sp>
      <p:sp>
        <p:nvSpPr>
          <p:cNvPr id="7" name="Slide Number Placeholder 6"/>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341370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065213" y="1828799"/>
            <a:ext cx="4251960"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5213" y="2590800"/>
            <a:ext cx="4251960"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5500053" y="1828799"/>
            <a:ext cx="4251960"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500053" y="2590800"/>
            <a:ext cx="4251960"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3E0FA9E5-6744-4841-888F-9E7CC0C2B7EC}" type="datetimeFigureOut">
              <a:rPr lang="en-US"/>
              <a:t>12/12/2017</a:t>
            </a:fld>
            <a:endParaRPr/>
          </a:p>
        </p:txBody>
      </p:sp>
      <p:sp>
        <p:nvSpPr>
          <p:cNvPr id="9" name="Slide Number Placeholder 8"/>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20007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3E0FA9E5-6744-4841-888F-9E7CC0C2B7EC}" type="datetimeFigureOut">
              <a:rPr lang="en-US"/>
              <a:t>12/12/2017</a:t>
            </a:fld>
            <a:endParaRPr/>
          </a:p>
        </p:txBody>
      </p:sp>
      <p:sp>
        <p:nvSpPr>
          <p:cNvPr id="5" name="Slide Number Placeholder 4"/>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90715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3E0FA9E5-6744-4841-888F-9E7CC0C2B7EC}" type="datetimeFigureOut">
              <a:rPr lang="en-US"/>
              <a:t>12/12/2017</a:t>
            </a:fld>
            <a:endParaRPr/>
          </a:p>
        </p:txBody>
      </p:sp>
      <p:sp>
        <p:nvSpPr>
          <p:cNvPr id="4" name="Slide Number Placeholder 3"/>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244153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3" y="533400"/>
            <a:ext cx="4114800" cy="1524000"/>
          </a:xfrm>
        </p:spPr>
        <p:txBody>
          <a:bodyPr anchor="b">
            <a:normAutofit/>
          </a:bodyPr>
          <a:lstStyle>
            <a:lvl1pPr algn="l">
              <a:defRPr sz="3600" b="1"/>
            </a:lvl1pPr>
          </a:lstStyle>
          <a:p>
            <a:r>
              <a:rPr lang="en-US"/>
              <a:t>Click to edit Master title style</a:t>
            </a:r>
            <a:endParaRPr/>
          </a:p>
        </p:txBody>
      </p:sp>
      <p:sp>
        <p:nvSpPr>
          <p:cNvPr id="3" name="Content Placeholder 2"/>
          <p:cNvSpPr>
            <a:spLocks noGrp="1"/>
          </p:cNvSpPr>
          <p:nvPr>
            <p:ph idx="1"/>
          </p:nvPr>
        </p:nvSpPr>
        <p:spPr>
          <a:xfrm>
            <a:off x="5865813" y="533400"/>
            <a:ext cx="586740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65213" y="2209800"/>
            <a:ext cx="4114800" cy="3810000"/>
          </a:xfrm>
        </p:spPr>
        <p:txBody>
          <a:bodyPr>
            <a:normAutofit/>
          </a:bodyPr>
          <a:lstStyle>
            <a:lvl1pPr marL="0" indent="0">
              <a:lnSpc>
                <a:spcPct val="110000"/>
              </a:lnSpc>
              <a:spcBef>
                <a:spcPts val="600"/>
              </a:spcBef>
              <a:buNone/>
              <a:defRPr sz="18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3E0FA9E5-6744-4841-888F-9E7CC0C2B7EC}" type="datetimeFigureOut">
              <a:rPr lang="en-US"/>
              <a:t>12/12/2017</a:t>
            </a:fld>
            <a:endParaRPr/>
          </a:p>
        </p:txBody>
      </p:sp>
      <p:sp>
        <p:nvSpPr>
          <p:cNvPr id="7" name="Slide Number Placeholder 6"/>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210171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3" y="533400"/>
            <a:ext cx="4114800" cy="1524000"/>
          </a:xfrm>
        </p:spPr>
        <p:txBody>
          <a:bodyPr anchor="b">
            <a:noAutofit/>
          </a:bodyPr>
          <a:lstStyle>
            <a:lvl1pPr algn="l">
              <a:defRPr sz="3600" b="1"/>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2" y="533400"/>
            <a:ext cx="5780173" cy="5791200"/>
          </a:xfrm>
          <a:ln w="50800">
            <a:solidFill>
              <a:schemeClr val="tx1">
                <a:lumMod val="65000"/>
                <a:lumOff val="35000"/>
              </a:schemeClr>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065213" y="2209800"/>
            <a:ext cx="4114800" cy="3810000"/>
          </a:xfrm>
        </p:spPr>
        <p:txBody>
          <a:bodyPr>
            <a:normAutofit/>
          </a:bodyPr>
          <a:lstStyle>
            <a:lvl1pPr marL="0" indent="0">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4196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12/12/2017</a:t>
            </a:fld>
            <a:endParaRPr/>
          </a:p>
        </p:txBody>
      </p:sp>
      <p:sp>
        <p:nvSpPr>
          <p:cNvPr id="6" name="Slide Number Placeholder 5"/>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266809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1412" y="533400"/>
            <a:ext cx="236220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065213" y="533400"/>
            <a:ext cx="7467599"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E0FA9E5-6744-4841-888F-9E7CC0C2B7EC}" type="datetimeFigureOut">
              <a:rPr lang="en-US"/>
              <a:t>12/12/2017</a:t>
            </a:fld>
            <a:endParaRPr/>
          </a:p>
        </p:txBody>
      </p:sp>
      <p:sp>
        <p:nvSpPr>
          <p:cNvPr id="6" name="Slide Number Placeholder 5"/>
          <p:cNvSpPr>
            <a:spLocks noGrp="1"/>
          </p:cNvSpPr>
          <p:nvPr>
            <p:ph type="sldNum" sz="quarter" idx="12"/>
          </p:nvPr>
        </p:nvSpPr>
        <p:spPr/>
        <p:txBody>
          <a:bodyPr/>
          <a:lstStyle/>
          <a:p>
            <a:fld id="{AAEAE4A8-A6E5-453E-B946-FB774B73F48C}" type="slidenum">
              <a:rPr/>
              <a:t>‹#›</a:t>
            </a:fld>
            <a:endParaRPr/>
          </a:p>
        </p:txBody>
      </p:sp>
    </p:spTree>
    <p:extLst>
      <p:ext uri="{BB962C8B-B14F-4D97-AF65-F5344CB8AC3E}">
        <p14:creationId xmlns:p14="http://schemas.microsoft.com/office/powerpoint/2010/main" val="18824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r>
              <a:rPr lang="en-US" dirty="0"/>
              <a:t>Add a footer</a:t>
            </a:r>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3E0FA9E5-6744-4841-888F-9E7CC0C2B7EC}" type="datetimeFigureOut">
              <a:rPr lang="en-US" smtClean="0"/>
              <a:pPr/>
              <a:t>12/12/2017</a:t>
            </a:fld>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597054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3600" b="1" kern="1200">
          <a:solidFill>
            <a:schemeClr val="accent1">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github.com/subnil/DBSCAN-Python-code/blob/master/DBscan.ipynb" TargetMode="Externa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5780" y="476672"/>
            <a:ext cx="7549478" cy="2514601"/>
          </a:xfrm>
        </p:spPr>
        <p:txBody>
          <a:bodyPr>
            <a:normAutofit/>
          </a:bodyPr>
          <a:lstStyle/>
          <a:p>
            <a:r>
              <a:rPr lang="en-GB" sz="4000" dirty="0"/>
              <a:t>Short Introduction to DBSCAN</a:t>
            </a:r>
            <a:endParaRPr lang="en-US" sz="4000" dirty="0"/>
          </a:p>
        </p:txBody>
      </p:sp>
      <p:sp>
        <p:nvSpPr>
          <p:cNvPr id="3" name="Subtitle 2"/>
          <p:cNvSpPr>
            <a:spLocks noGrp="1"/>
          </p:cNvSpPr>
          <p:nvPr>
            <p:ph type="subTitle" idx="1"/>
          </p:nvPr>
        </p:nvSpPr>
        <p:spPr/>
        <p:txBody>
          <a:bodyPr/>
          <a:lstStyle/>
          <a:p>
            <a:r>
              <a:rPr lang="en-US" dirty="0"/>
              <a:t>BY Subhranil Roy</a:t>
            </a:r>
          </a:p>
          <a:p>
            <a:r>
              <a:rPr lang="en-US" dirty="0"/>
              <a:t>A17036</a:t>
            </a:r>
          </a:p>
        </p:txBody>
      </p:sp>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a:t>
            </a:r>
          </a:p>
        </p:txBody>
      </p:sp>
      <p:sp>
        <p:nvSpPr>
          <p:cNvPr id="14" name="Content Placeholder 13"/>
          <p:cNvSpPr>
            <a:spLocks noGrp="1"/>
          </p:cNvSpPr>
          <p:nvPr>
            <p:ph idx="1"/>
          </p:nvPr>
        </p:nvSpPr>
        <p:spPr/>
        <p:txBody>
          <a:bodyPr/>
          <a:lstStyle/>
          <a:p>
            <a:r>
              <a:rPr lang="en-US" b="1" dirty="0">
                <a:solidFill>
                  <a:srgbClr val="FF0000"/>
                </a:solidFill>
                <a:latin typeface="Calibri Light" panose="020F0302020204030204" pitchFamily="34" charset="0"/>
                <a:cs typeface="Calibri Light" panose="020F0302020204030204" pitchFamily="34" charset="0"/>
              </a:rPr>
              <a:t>What is DBSCAN?</a:t>
            </a:r>
          </a:p>
          <a:p>
            <a:r>
              <a:rPr lang="en-US" b="1" dirty="0">
                <a:latin typeface="Calibri Light" panose="020F0302020204030204" pitchFamily="34" charset="0"/>
                <a:cs typeface="Calibri Light" panose="020F0302020204030204" pitchFamily="34" charset="0"/>
              </a:rPr>
              <a:t>DBSCAN or </a:t>
            </a:r>
            <a:r>
              <a:rPr lang="en-IN" b="1" dirty="0">
                <a:latin typeface="Calibri Light" panose="020F0302020204030204" pitchFamily="34" charset="0"/>
                <a:cs typeface="Calibri Light" panose="020F0302020204030204" pitchFamily="34" charset="0"/>
              </a:rPr>
              <a:t>Density-based spatial clustering of applications with noise is a widely used clustering </a:t>
            </a:r>
            <a:r>
              <a:rPr lang="en-IN" dirty="0"/>
              <a:t>algorithm </a:t>
            </a:r>
            <a:r>
              <a:rPr lang="en-IN" b="1" dirty="0">
                <a:latin typeface="Calibri Light" panose="020F0302020204030204" pitchFamily="34" charset="0"/>
                <a:cs typeface="Calibri Light" panose="020F0302020204030204" pitchFamily="34" charset="0"/>
              </a:rPr>
              <a:t> for </a:t>
            </a:r>
            <a:r>
              <a:rPr lang="en" dirty="0"/>
              <a:t>irregularly</a:t>
            </a:r>
            <a:r>
              <a:rPr lang="en-IN" b="1" dirty="0">
                <a:latin typeface="Calibri Light" panose="020F0302020204030204" pitchFamily="34" charset="0"/>
                <a:cs typeface="Calibri Light" panose="020F0302020204030204" pitchFamily="34" charset="0"/>
              </a:rPr>
              <a:t> shaped data.</a:t>
            </a:r>
          </a:p>
          <a:p>
            <a:r>
              <a:rPr lang="en-IN" b="1" dirty="0">
                <a:solidFill>
                  <a:srgbClr val="FF0000"/>
                </a:solidFill>
                <a:latin typeface="Calibri Light" panose="020F0302020204030204" pitchFamily="34" charset="0"/>
                <a:cs typeface="Calibri Light" panose="020F0302020204030204" pitchFamily="34" charset="0"/>
              </a:rPr>
              <a:t>Why DBSCAN?</a:t>
            </a:r>
          </a:p>
          <a:p>
            <a:r>
              <a:rPr lang="en" dirty="0"/>
              <a:t>kmeans and kmedoid </a:t>
            </a:r>
            <a:r>
              <a:rPr lang="en-IN" dirty="0"/>
              <a:t>clustering technique can only be applied for data which have regular pattern and this centroid based clustering fails to cluster irregular shaped data. </a:t>
            </a:r>
          </a:p>
          <a:p>
            <a:endParaRPr lang="en-IN" b="1" dirty="0">
              <a:solidFill>
                <a:srgbClr val="FF0000"/>
              </a:solidFill>
              <a:latin typeface="Calibri Light" panose="020F0302020204030204" pitchFamily="34" charset="0"/>
              <a:cs typeface="Calibri Light" panose="020F0302020204030204" pitchFamily="34" charset="0"/>
            </a:endParaRPr>
          </a:p>
          <a:p>
            <a:pPr marL="45720" indent="0">
              <a:buNone/>
            </a:pPr>
            <a:r>
              <a:rPr lang="en-US" b="1" dirty="0">
                <a:latin typeface="Calibri Light" panose="020F0302020204030204" pitchFamily="34" charset="0"/>
                <a:cs typeface="Calibri Light" panose="020F0302020204030204" pitchFamily="34" charset="0"/>
              </a:rPr>
              <a:t>   </a:t>
            </a:r>
            <a:endParaRPr lang="en-US" dirty="0"/>
          </a:p>
        </p:txBody>
      </p:sp>
    </p:spTree>
    <p:extLst>
      <p:ext uri="{BB962C8B-B14F-4D97-AF65-F5344CB8AC3E}">
        <p14:creationId xmlns:p14="http://schemas.microsoft.com/office/powerpoint/2010/main" val="143723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1" y="355556"/>
            <a:ext cx="8686801" cy="1066800"/>
          </a:xfrm>
        </p:spPr>
        <p:txBody>
          <a:bodyPr/>
          <a:lstStyle/>
          <a:p>
            <a:r>
              <a:rPr lang="en-US" dirty="0"/>
              <a:t>Clustering by different Algorithm on irregular data </a:t>
            </a:r>
          </a:p>
        </p:txBody>
      </p:sp>
      <p:pic>
        <p:nvPicPr>
          <p:cNvPr id="5" name="Content Placeholder 4">
            <a:extLst>
              <a:ext uri="{FF2B5EF4-FFF2-40B4-BE49-F238E27FC236}">
                <a16:creationId xmlns:a16="http://schemas.microsoft.com/office/drawing/2014/main" id="{1F640893-AB62-49D2-89E9-0927988ACD16}"/>
              </a:ext>
            </a:extLst>
          </p:cNvPr>
          <p:cNvPicPr>
            <a:picLocks noGrp="1" noChangeAspect="1"/>
          </p:cNvPicPr>
          <p:nvPr>
            <p:ph idx="1"/>
          </p:nvPr>
        </p:nvPicPr>
        <p:blipFill>
          <a:blip r:embed="rId2"/>
          <a:stretch>
            <a:fillRect/>
          </a:stretch>
        </p:blipFill>
        <p:spPr>
          <a:xfrm>
            <a:off x="1203546" y="1452092"/>
            <a:ext cx="8410129" cy="4969710"/>
          </a:xfrm>
        </p:spPr>
      </p:pic>
      <p:sp>
        <p:nvSpPr>
          <p:cNvPr id="8" name="TextBox 7">
            <a:extLst>
              <a:ext uri="{FF2B5EF4-FFF2-40B4-BE49-F238E27FC236}">
                <a16:creationId xmlns:a16="http://schemas.microsoft.com/office/drawing/2014/main" id="{8B2A0DB0-19B9-4F2E-ABDA-1FB245FAA3DF}"/>
              </a:ext>
            </a:extLst>
          </p:cNvPr>
          <p:cNvSpPr txBox="1"/>
          <p:nvPr/>
        </p:nvSpPr>
        <p:spPr>
          <a:xfrm>
            <a:off x="8110636" y="6502444"/>
            <a:ext cx="1703672" cy="276999"/>
          </a:xfrm>
          <a:prstGeom prst="rect">
            <a:avLst/>
          </a:prstGeom>
          <a:noFill/>
        </p:spPr>
        <p:txBody>
          <a:bodyPr wrap="none" rtlCol="0">
            <a:spAutoFit/>
          </a:bodyPr>
          <a:lstStyle/>
          <a:p>
            <a:r>
              <a:rPr lang="en-IN" sz="1200" dirty="0"/>
              <a:t>Source: Stack Overflow</a:t>
            </a:r>
          </a:p>
        </p:txBody>
      </p:sp>
    </p:spTree>
    <p:extLst>
      <p:ext uri="{BB962C8B-B14F-4D97-AF65-F5344CB8AC3E}">
        <p14:creationId xmlns:p14="http://schemas.microsoft.com/office/powerpoint/2010/main" val="143171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Parameters</a:t>
            </a:r>
          </a:p>
        </p:txBody>
      </p:sp>
      <p:sp>
        <p:nvSpPr>
          <p:cNvPr id="5" name="Content Placeholder 4">
            <a:extLst>
              <a:ext uri="{FF2B5EF4-FFF2-40B4-BE49-F238E27FC236}">
                <a16:creationId xmlns:a16="http://schemas.microsoft.com/office/drawing/2014/main" id="{E51C82BD-D958-49A8-B9DB-98B12D606BAF}"/>
              </a:ext>
            </a:extLst>
          </p:cNvPr>
          <p:cNvSpPr>
            <a:spLocks noGrp="1"/>
          </p:cNvSpPr>
          <p:nvPr>
            <p:ph sz="half" idx="1"/>
          </p:nvPr>
        </p:nvSpPr>
        <p:spPr/>
        <p:txBody>
          <a:bodyPr>
            <a:normAutofit/>
          </a:bodyPr>
          <a:lstStyle/>
          <a:p>
            <a:r>
              <a:rPr lang="en-IN" dirty="0">
                <a:solidFill>
                  <a:srgbClr val="FF0000"/>
                </a:solidFill>
              </a:rPr>
              <a:t>Main parameters:</a:t>
            </a:r>
          </a:p>
          <a:p>
            <a:pPr marL="742950" lvl="1" indent="-222250">
              <a:spcBef>
                <a:spcPts val="320"/>
              </a:spcBef>
              <a:buClr>
                <a:srgbClr val="000000"/>
              </a:buClr>
              <a:buSzPct val="100000"/>
              <a:buFont typeface="Arial"/>
              <a:buChar char="•"/>
            </a:pPr>
            <a:r>
              <a:rPr lang="en" dirty="0">
                <a:solidFill>
                  <a:srgbClr val="FF0000"/>
                </a:solidFill>
              </a:rPr>
              <a:t>ɛ</a:t>
            </a:r>
            <a:r>
              <a:rPr lang="en" dirty="0"/>
              <a:t>-radius for the neighborhood of point.</a:t>
            </a:r>
          </a:p>
          <a:p>
            <a:pPr marL="800100" lvl="1" indent="-279400">
              <a:spcBef>
                <a:spcPts val="320"/>
              </a:spcBef>
              <a:buClr>
                <a:srgbClr val="000000"/>
              </a:buClr>
              <a:buSzPct val="100000"/>
              <a:buFont typeface="Arial"/>
              <a:buChar char="•"/>
            </a:pPr>
            <a:r>
              <a:rPr lang="en" i="1" dirty="0">
                <a:solidFill>
                  <a:srgbClr val="FF0000"/>
                </a:solidFill>
              </a:rPr>
              <a:t>MinPts:</a:t>
            </a:r>
            <a:r>
              <a:rPr lang="en" dirty="0"/>
              <a:t> minimum number of points in the given neighbourhood.</a:t>
            </a:r>
          </a:p>
          <a:p>
            <a:pPr marL="800100" lvl="1" indent="-279400">
              <a:spcBef>
                <a:spcPts val="320"/>
              </a:spcBef>
              <a:buClr>
                <a:srgbClr val="000000"/>
              </a:buClr>
              <a:buSzPct val="100000"/>
              <a:buFont typeface="Arial"/>
              <a:buChar char="•"/>
            </a:pPr>
            <a:r>
              <a:rPr lang="en" dirty="0">
                <a:solidFill>
                  <a:srgbClr val="FF0000"/>
                </a:solidFill>
              </a:rPr>
              <a:t>Border Point: </a:t>
            </a:r>
            <a:r>
              <a:rPr lang="en" dirty="0"/>
              <a:t>A border point has fewer than MinPts within Eps, but is in the neighborhood of a core point</a:t>
            </a:r>
          </a:p>
          <a:p>
            <a:pPr marL="800100" lvl="1" indent="-279400">
              <a:spcBef>
                <a:spcPts val="320"/>
              </a:spcBef>
              <a:buClr>
                <a:srgbClr val="000000"/>
              </a:buClr>
              <a:buSzPct val="100000"/>
              <a:buFont typeface="Arial"/>
              <a:buChar char="•"/>
            </a:pPr>
            <a:r>
              <a:rPr lang="en-US" altLang="en-US" dirty="0">
                <a:solidFill>
                  <a:srgbClr val="FF0000"/>
                </a:solidFill>
              </a:rPr>
              <a:t>Core Point: </a:t>
            </a:r>
            <a:r>
              <a:rPr lang="en-US" altLang="en-US" dirty="0"/>
              <a:t>A point is a </a:t>
            </a:r>
            <a:r>
              <a:rPr lang="en-US" altLang="en-US" dirty="0">
                <a:solidFill>
                  <a:schemeClr val="tx1">
                    <a:lumMod val="75000"/>
                    <a:lumOff val="25000"/>
                  </a:schemeClr>
                </a:solidFill>
              </a:rPr>
              <a:t>core point </a:t>
            </a:r>
            <a:r>
              <a:rPr lang="en-US" altLang="en-US" dirty="0"/>
              <a:t>if it has more than a specified number of points (</a:t>
            </a:r>
            <a:r>
              <a:rPr lang="en-US" altLang="en-US" dirty="0" err="1"/>
              <a:t>MinPts</a:t>
            </a:r>
            <a:r>
              <a:rPr lang="en-US" altLang="en-US" dirty="0"/>
              <a:t>) within Eps.</a:t>
            </a:r>
          </a:p>
          <a:p>
            <a:pPr marL="800100" lvl="1" indent="-279400">
              <a:spcBef>
                <a:spcPts val="320"/>
              </a:spcBef>
              <a:buClr>
                <a:srgbClr val="000000"/>
              </a:buClr>
              <a:buSzPct val="100000"/>
              <a:buFont typeface="Arial"/>
              <a:buChar char="•"/>
            </a:pPr>
            <a:endParaRPr lang="en-US" altLang="en-US" dirty="0"/>
          </a:p>
          <a:p>
            <a:pPr marL="800100" lvl="1" indent="-279400">
              <a:spcBef>
                <a:spcPts val="320"/>
              </a:spcBef>
              <a:buClr>
                <a:srgbClr val="000000"/>
              </a:buClr>
              <a:buSzPct val="100000"/>
              <a:buFont typeface="Arial"/>
              <a:buChar char="•"/>
            </a:pPr>
            <a:endParaRPr lang="en" dirty="0">
              <a:solidFill>
                <a:srgbClr val="FF0000"/>
              </a:solidFill>
            </a:endParaRPr>
          </a:p>
          <a:p>
            <a:pPr marL="520700" lvl="1" indent="0" algn="r">
              <a:spcBef>
                <a:spcPts val="320"/>
              </a:spcBef>
              <a:buClr>
                <a:srgbClr val="000000"/>
              </a:buClr>
              <a:buSzPct val="100000"/>
              <a:buNone/>
            </a:pPr>
            <a:endParaRPr lang="en" dirty="0"/>
          </a:p>
          <a:p>
            <a:endParaRPr lang="en-IN" dirty="0">
              <a:solidFill>
                <a:srgbClr val="FF0000"/>
              </a:solidFill>
            </a:endParaRPr>
          </a:p>
        </p:txBody>
      </p:sp>
      <p:pic>
        <p:nvPicPr>
          <p:cNvPr id="9" name="Picture 3">
            <a:extLst>
              <a:ext uri="{FF2B5EF4-FFF2-40B4-BE49-F238E27FC236}">
                <a16:creationId xmlns:a16="http://schemas.microsoft.com/office/drawing/2014/main" id="{D119BD88-488F-4433-A138-3C0C88EDE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111"/>
          <a:stretch>
            <a:fillRect/>
          </a:stretch>
        </p:blipFill>
        <p:spPr bwMode="auto">
          <a:xfrm>
            <a:off x="5347973" y="1764030"/>
            <a:ext cx="4920223" cy="3825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52226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How it works:</a:t>
            </a:r>
          </a:p>
        </p:txBody>
      </p:sp>
      <p:graphicFrame>
        <p:nvGraphicFramePr>
          <p:cNvPr id="8" name="Content Placeholder 7" descr="Radial cycle shows the relationship between 4 tasks to a group"/>
          <p:cNvGraphicFramePr>
            <a:graphicFrameLocks noGrp="1"/>
          </p:cNvGraphicFramePr>
          <p:nvPr>
            <p:ph sz="half" idx="2"/>
            <p:extLst>
              <p:ext uri="{D42A27DB-BD31-4B8C-83A1-F6EECF244321}">
                <p14:modId xmlns:p14="http://schemas.microsoft.com/office/powerpoint/2010/main" val="1960529787"/>
              </p:ext>
            </p:extLst>
          </p:nvPr>
        </p:nvGraphicFramePr>
        <p:xfrm>
          <a:off x="5464175" y="1828800"/>
          <a:ext cx="4252913"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82FA4760-D200-415D-9BEA-C5434B68CFE4}"/>
              </a:ext>
            </a:extLst>
          </p:cNvPr>
          <p:cNvSpPr>
            <a:spLocks noGrp="1"/>
          </p:cNvSpPr>
          <p:nvPr>
            <p:ph sz="half" idx="1"/>
          </p:nvPr>
        </p:nvSpPr>
        <p:spPr>
          <a:xfrm>
            <a:off x="1065212" y="1817370"/>
            <a:ext cx="4251960" cy="4495800"/>
          </a:xfrm>
        </p:spPr>
        <p:txBody>
          <a:bodyPr>
            <a:normAutofit fontScale="62500" lnSpcReduction="20000"/>
          </a:bodyPr>
          <a:lstStyle/>
          <a:p>
            <a:r>
              <a:rPr lang="en-IN" sz="2900" b="1" dirty="0">
                <a:solidFill>
                  <a:srgbClr val="FF0000"/>
                </a:solidFill>
              </a:rPr>
              <a:t>Algorithm</a:t>
            </a:r>
            <a:endParaRPr lang="en-IN" sz="2900" dirty="0"/>
          </a:p>
          <a:p>
            <a:r>
              <a:rPr lang="en-IN" sz="2900" b="1" dirty="0">
                <a:solidFill>
                  <a:schemeClr val="tx2"/>
                </a:solidFill>
                <a:latin typeface="Calibri Light" panose="020F0302020204030204" pitchFamily="34" charset="0"/>
                <a:cs typeface="Calibri Light" panose="020F0302020204030204" pitchFamily="34" charset="0"/>
              </a:rPr>
              <a:t>Find the ε (eps) neighbours of every point, and identify the core points with more than </a:t>
            </a:r>
            <a:r>
              <a:rPr lang="en-IN" sz="2900" b="1" dirty="0" err="1">
                <a:solidFill>
                  <a:schemeClr val="tx2"/>
                </a:solidFill>
                <a:latin typeface="Calibri Light" panose="020F0302020204030204" pitchFamily="34" charset="0"/>
                <a:cs typeface="Calibri Light" panose="020F0302020204030204" pitchFamily="34" charset="0"/>
              </a:rPr>
              <a:t>minPts</a:t>
            </a:r>
            <a:r>
              <a:rPr lang="en-IN" sz="2900" b="1" dirty="0">
                <a:solidFill>
                  <a:schemeClr val="tx2"/>
                </a:solidFill>
                <a:latin typeface="Calibri Light" panose="020F0302020204030204" pitchFamily="34" charset="0"/>
                <a:cs typeface="Calibri Light" panose="020F0302020204030204" pitchFamily="34" charset="0"/>
              </a:rPr>
              <a:t> neighbours.</a:t>
            </a:r>
          </a:p>
          <a:p>
            <a:r>
              <a:rPr lang="en-IN" sz="2900" b="1" dirty="0">
                <a:solidFill>
                  <a:schemeClr val="tx2"/>
                </a:solidFill>
                <a:latin typeface="Calibri Light" panose="020F0302020204030204" pitchFamily="34" charset="0"/>
                <a:cs typeface="Calibri Light" panose="020F0302020204030204" pitchFamily="34" charset="0"/>
              </a:rPr>
              <a:t>Find the connected components of </a:t>
            </a:r>
            <a:r>
              <a:rPr lang="en-IN" sz="2900" b="1" i="1" dirty="0">
                <a:solidFill>
                  <a:schemeClr val="tx2"/>
                </a:solidFill>
                <a:latin typeface="Calibri Light" panose="020F0302020204030204" pitchFamily="34" charset="0"/>
                <a:cs typeface="Calibri Light" panose="020F0302020204030204" pitchFamily="34" charset="0"/>
              </a:rPr>
              <a:t>core</a:t>
            </a:r>
            <a:r>
              <a:rPr lang="en-IN" sz="2900" b="1" dirty="0">
                <a:solidFill>
                  <a:schemeClr val="tx2"/>
                </a:solidFill>
                <a:latin typeface="Calibri Light" panose="020F0302020204030204" pitchFamily="34" charset="0"/>
                <a:cs typeface="Calibri Light" panose="020F0302020204030204" pitchFamily="34" charset="0"/>
              </a:rPr>
              <a:t> points on the neighbour graph, ignoring all non-core points.</a:t>
            </a:r>
          </a:p>
          <a:p>
            <a:r>
              <a:rPr lang="en-IN" sz="2900" b="1" dirty="0">
                <a:solidFill>
                  <a:schemeClr val="tx2"/>
                </a:solidFill>
                <a:latin typeface="Calibri Light" panose="020F0302020204030204" pitchFamily="34" charset="0"/>
                <a:cs typeface="Calibri Light" panose="020F0302020204030204" pitchFamily="34" charset="0"/>
              </a:rPr>
              <a:t>Assign each non-core point to a nearby cluster if the cluster is an ε (eps) neighbour, otherwise assign it to noise.</a:t>
            </a:r>
          </a:p>
          <a:p>
            <a:r>
              <a:rPr lang="en-IN" sz="2900" b="1" dirty="0">
                <a:solidFill>
                  <a:schemeClr val="tx2"/>
                </a:solidFill>
                <a:latin typeface="Calibri Light" panose="020F0302020204030204" pitchFamily="34" charset="0"/>
                <a:cs typeface="Calibri Light" panose="020F0302020204030204" pitchFamily="34" charset="0"/>
              </a:rPr>
              <a:t>A naive implementation of this requires storing the neighbourhoods in step 1, thus requiring substantial memory. The original DBSCAN algorithm does not require this by performing these steps for one point at a time.                       </a:t>
            </a:r>
            <a:r>
              <a:rPr lang="en-IN" sz="1400" b="1" dirty="0">
                <a:solidFill>
                  <a:schemeClr val="tx1"/>
                </a:solidFill>
                <a:latin typeface="Calibri Light" panose="020F0302020204030204" pitchFamily="34" charset="0"/>
                <a:cs typeface="Calibri Light" panose="020F0302020204030204" pitchFamily="34" charset="0"/>
              </a:rPr>
              <a:t>Source: Wikipedia</a:t>
            </a:r>
          </a:p>
          <a:p>
            <a:endParaRPr lang="en-IN" dirty="0"/>
          </a:p>
        </p:txBody>
      </p:sp>
      <p:sp>
        <p:nvSpPr>
          <p:cNvPr id="5" name="TextBox 4">
            <a:extLst>
              <a:ext uri="{FF2B5EF4-FFF2-40B4-BE49-F238E27FC236}">
                <a16:creationId xmlns:a16="http://schemas.microsoft.com/office/drawing/2014/main" id="{FFE8AF76-72C6-4C1A-8046-A494FFD5BC1B}"/>
              </a:ext>
            </a:extLst>
          </p:cNvPr>
          <p:cNvSpPr txBox="1"/>
          <p:nvPr/>
        </p:nvSpPr>
        <p:spPr>
          <a:xfrm>
            <a:off x="6065772" y="1831102"/>
            <a:ext cx="5237075" cy="3416320"/>
          </a:xfrm>
          <a:prstGeom prst="rect">
            <a:avLst/>
          </a:prstGeom>
          <a:noFill/>
        </p:spPr>
        <p:txBody>
          <a:bodyPr wrap="none" rtlCol="0">
            <a:spAutoFit/>
          </a:bodyPr>
          <a:lstStyle/>
          <a:p>
            <a:r>
              <a:rPr lang="en-IN" dirty="0">
                <a:solidFill>
                  <a:srgbClr val="FF0000"/>
                </a:solidFill>
              </a:rPr>
              <a:t>Advantages:</a:t>
            </a:r>
          </a:p>
          <a:p>
            <a:r>
              <a:rPr lang="en-IN" dirty="0"/>
              <a:t>1. DBSCAN can find arbitrarily shaped clusters.</a:t>
            </a:r>
          </a:p>
          <a:p>
            <a:r>
              <a:rPr lang="en-IN" dirty="0"/>
              <a:t>2. Robust to outliers.</a:t>
            </a:r>
          </a:p>
          <a:p>
            <a:endParaRPr lang="en-IN" dirty="0"/>
          </a:p>
          <a:p>
            <a:r>
              <a:rPr lang="en-IN" dirty="0">
                <a:solidFill>
                  <a:srgbClr val="FF0000"/>
                </a:solidFill>
              </a:rPr>
              <a:t>Disadvantages:</a:t>
            </a:r>
          </a:p>
          <a:p>
            <a:pPr marL="342900" indent="-342900">
              <a:buAutoNum type="arabicPeriod"/>
            </a:pPr>
            <a:r>
              <a:rPr lang="en-IN" dirty="0"/>
              <a:t>If the data and scale are not well understood, </a:t>
            </a:r>
          </a:p>
          <a:p>
            <a:r>
              <a:rPr lang="en-IN" dirty="0"/>
              <a:t>choosing a meaningful distance threshold ε can </a:t>
            </a:r>
          </a:p>
          <a:p>
            <a:r>
              <a:rPr lang="en-IN" dirty="0"/>
              <a:t>be difficult.</a:t>
            </a:r>
          </a:p>
          <a:p>
            <a:r>
              <a:rPr lang="en-IN" dirty="0"/>
              <a:t>2. DBSCAN cannot cluster data sets well with large </a:t>
            </a:r>
          </a:p>
          <a:p>
            <a:r>
              <a:rPr lang="en-IN" dirty="0"/>
              <a:t>differences in densities</a:t>
            </a:r>
          </a:p>
          <a:p>
            <a:r>
              <a:rPr lang="en-IN" dirty="0"/>
              <a:t> </a:t>
            </a:r>
          </a:p>
          <a:p>
            <a:r>
              <a:rPr lang="en-IN" dirty="0" err="1">
                <a:solidFill>
                  <a:srgbClr val="FF0000"/>
                </a:solidFill>
              </a:rPr>
              <a:t>Github</a:t>
            </a:r>
            <a:r>
              <a:rPr lang="en-IN" dirty="0">
                <a:solidFill>
                  <a:srgbClr val="FF0000"/>
                </a:solidFill>
              </a:rPr>
              <a:t> link: </a:t>
            </a:r>
            <a:r>
              <a:rPr lang="en-IN" dirty="0">
                <a:hlinkClick r:id="rId7"/>
              </a:rPr>
              <a:t>Click Here</a:t>
            </a:r>
            <a:endParaRPr lang="en-IN" dirty="0"/>
          </a:p>
        </p:txBody>
      </p:sp>
    </p:spTree>
    <p:extLst>
      <p:ext uri="{BB962C8B-B14F-4D97-AF65-F5344CB8AC3E}">
        <p14:creationId xmlns:p14="http://schemas.microsoft.com/office/powerpoint/2010/main" val="10108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0076" y="1988840"/>
            <a:ext cx="8686800" cy="2286000"/>
          </a:xfrm>
        </p:spPr>
        <p:txBody>
          <a:bodyPr/>
          <a:lstStyle/>
          <a:p>
            <a:r>
              <a:rPr lang="en-US" dirty="0"/>
              <a:t>    Thank You</a:t>
            </a:r>
            <a:br>
              <a:rPr lang="en-US" dirty="0"/>
            </a:br>
            <a:r>
              <a:rPr lang="en-US" dirty="0"/>
              <a:t>Have a Nice day</a:t>
            </a:r>
          </a:p>
        </p:txBody>
      </p:sp>
    </p:spTree>
    <p:extLst>
      <p:ext uri="{BB962C8B-B14F-4D97-AF65-F5344CB8AC3E}">
        <p14:creationId xmlns:p14="http://schemas.microsoft.com/office/powerpoint/2010/main" val="413117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usiness Contrast 16x9">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contrast presentation (widescreen).potx" id="{79BDEE8A-06BD-4498-8DA2-039F108111A7}" vid="{371B0C30-7F71-4EED-A6A3-8F238779D534}"/>
    </a:ext>
  </a:extLst>
</a:theme>
</file>

<file path=ppt/theme/theme2.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02F2BE50-DDB3-465B-A26E-975A276D4362}">
  <ds:schemaRefs>
    <ds:schemaRef ds:uri="http://schemas.microsoft.com/sharepoint/v3/contenttype/forms"/>
  </ds:schemaRefs>
</ds:datastoreItem>
</file>

<file path=customXml/itemProps2.xml><?xml version="1.0" encoding="utf-8"?>
<ds:datastoreItem xmlns:ds="http://schemas.openxmlformats.org/officeDocument/2006/customXml" ds:itemID="{7C80FAF7-F941-4D3E-A3C3-283A611079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9220E13-D325-4A9E-AA7A-0D1409275EB9}">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purl.org/dc/elements/1.1/"/>
    <ds:schemaRef ds:uri="http://purl.org/dc/dcmitype/"/>
    <ds:schemaRef ds:uri="http://schemas.microsoft.com/office/infopath/2007/PartnerControls"/>
    <ds:schemaRef ds:uri="40262f94-9f35-4ac3-9a90-690165a166b7"/>
    <ds:schemaRef ds:uri="a4f35948-e619-41b3-aa29-22878b09cfd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Business contrast presentation (widescreen)</Template>
  <TotalTime>89</TotalTime>
  <Words>191</Words>
  <Application>Microsoft Office PowerPoint</Application>
  <PresentationFormat>Custom</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 Light</vt:lpstr>
      <vt:lpstr>Franklin Gothic Medium</vt:lpstr>
      <vt:lpstr>Business Contrast 16x9</vt:lpstr>
      <vt:lpstr>Short Introduction to DBSCAN</vt:lpstr>
      <vt:lpstr>Introduction</vt:lpstr>
      <vt:lpstr>Clustering by different Algorithm on irregular data </vt:lpstr>
      <vt:lpstr>Parameters</vt:lpstr>
      <vt:lpstr>How it works:</vt:lpstr>
      <vt:lpstr>    Thank You Have a Nice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Introduction to DBSCAN</dc:title>
  <dc:creator>Subhranil Roy</dc:creator>
  <cp:lastModifiedBy>Subhranil Roy</cp:lastModifiedBy>
  <cp:revision>9</cp:revision>
  <dcterms:created xsi:type="dcterms:W3CDTF">2017-12-12T04:55:18Z</dcterms:created>
  <dcterms:modified xsi:type="dcterms:W3CDTF">2017-12-12T09:29:39Z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